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23F6D"/>
          </a:solidFill>
          <a:ln w="12700">
            <a:solidFill>
              <a:srgbClr val="123F6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HOLCIM ECUADOR S.A.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16916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23F6D"/>
                </a:solidFill>
              </a:rPr>
              <a:t>Evaluación financiera de inversión solar con almacenamiento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76656" y="2578608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</a:rPr>
              <a:t>Planta de molienda Latacunga | Sistema 5 MWp + batería 4 MWh | Julio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656" y="3794760"/>
            <a:ext cx="2926080" cy="73152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651"/>
                </a:solidFill>
              </a:rPr>
              <a:t>USD 1.02 M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6656" y="46908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VAN escenario base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6324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651"/>
                </a:solidFill>
              </a:rPr>
              <a:t>13.29%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063240" y="4690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TIR estimada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7492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651"/>
                </a:solidFill>
              </a:rPr>
              <a:t>10.50%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5074920" y="4690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WACC base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4206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F6D"/>
                </a:solidFill>
              </a:rPr>
              <a:t>Recomendación: aceptar condicionadamente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89520" y="4800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</a:rPr>
              <a:t>Validar cotización EPC, generación/autoconsumo y costo real de interrupciones antes de invertir.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</a:rPr>
              <a:t>Holcim Ecuador | Proyecto integrador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F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Desafío empresarial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</a:rPr>
              <a:t>La decisión evaluada no es descriptiva: implica aceptar, rechazar o reformular una inversión de capital.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200400" cy="4069080"/>
          </a:xfrm>
          <a:prstGeom prst="rect">
            <a:avLst/>
          </a:prstGeom>
          <a:solidFill>
            <a:srgbClr val="DDEBF7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F6D"/>
                </a:solidFill>
              </a:rPr>
              <a:t>Contexto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269748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Holcim Ecuador tiene una planta integrada de cemento en Guayaquil y una planta de molienda de cemento en Latacunga. El proyecto se enfoca en Latacunga por su exposición a costos energéticos y continuidad operativa.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60520" y="3063240"/>
            <a:ext cx="731520" cy="457200"/>
          </a:xfrm>
          <a:prstGeom prst="chevron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1463040"/>
            <a:ext cx="59893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1737360"/>
            <a:ext cx="3931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F6D"/>
                </a:solidFill>
              </a:rPr>
              <a:t>Pregunta de decisión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532120" y="2240280"/>
            <a:ext cx="525780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¿Es económica y financieramente viable instalar una solución solar fotovoltaica de 5 MWp con almacenamiento de 4 MWh, financiada 70% con deuda y 30% con patrimonio, para reducir costos energéticos y riesgo de interrupciones?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532120" y="4709160"/>
            <a:ext cx="5212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A651"/>
                </a:solidFill>
              </a:rPr>
              <a:t>Criterio de aceptación: VAN positivo, TIR &gt; WACC, B/C &gt; 1 y riesgo controlable.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</a:rPr>
              <a:t>Holcim Ecuador | Proyecto integrador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F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Diagnóstico financiero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</a:rPr>
              <a:t>La empresa mantiene alta generación de utilidades, pero con presión de liquidez corriente.</a:t>
            </a:r>
            <a:endParaRPr lang="en-US" sz="1100" dirty="0"/>
          </a:p>
        </p:txBody>
      </p:sp>
      <p:pic>
        <p:nvPicPr>
          <p:cNvPr id="4" name="Image 0" descr="/mnt/data/proyecto-finanzas-holcim/reports/figures/desempeno_histor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97726"/>
            <a:ext cx="5669280" cy="32395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F6D"/>
                </a:solidFill>
              </a:rPr>
              <a:t>Lectura financiera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720840" y="1938528"/>
            <a:ext cx="429768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Ventas 2025: USD 384.6 millones. Utilidad neta 2025: USD 85.0 millones. Margen operacional baja a 20.1%, desde 25.0% en 2024. Liquidez corriente se mantiene por debajo de 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20840" y="3840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651"/>
                </a:solidFill>
              </a:rPr>
              <a:t>0.54x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720840" y="43708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Razón corriente 2025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8972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651"/>
                </a:solidFill>
              </a:rPr>
              <a:t>39.8%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9189720" y="43708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Endeudamiento 2025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720840" y="5120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651"/>
                </a:solidFill>
              </a:rPr>
              <a:t>34.7x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6720840" y="5650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Cobertura intereses 2025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89720" y="51206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651"/>
                </a:solidFill>
              </a:rPr>
              <a:t>24.4%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9189720" y="56509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ROE 2025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</a:rPr>
              <a:t>Holcim Ecuador | Proyecto integrador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F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Flujo de caja del proyecto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</a:rPr>
              <a:t>Horizonte de 15 años, inversión inicial de USD 6.08 millones y reposición de batería en el año 9.</a:t>
            </a:r>
            <a:endParaRPr lang="en-US" sz="1100" dirty="0"/>
          </a:p>
        </p:txBody>
      </p:sp>
      <p:pic>
        <p:nvPicPr>
          <p:cNvPr id="4" name="Image 0" descr="/mnt/data/proyecto-finanzas-holcim/reports/figures/flujo_proyec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4663"/>
            <a:ext cx="6035040" cy="34485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9516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F6D"/>
                </a:solidFill>
              </a:rPr>
              <a:t>Componentes principales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95160" y="1828800"/>
            <a:ext cx="42976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</a:rPr>
              <a:t>Ingresos incrementales: ahorro eléctrico + continuidad operativa. Costos: O&amp;M, seguro/admin, impuestos y reposición de batería. Valor residual: activo + recuperación de capital de trabajo.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995160" y="3657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651"/>
                </a:solidFill>
              </a:rPr>
              <a:t>USD 6.08 M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995160" y="41879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Inversión inicial total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23544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651"/>
                </a:solidFill>
              </a:rPr>
              <a:t>15 años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9235440" y="41879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Horizonte evaluado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995160" y="4892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651"/>
                </a:solidFill>
              </a:rPr>
              <a:t>Año 9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6995160" y="54223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Reposición parcial batería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235440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651"/>
                </a:solidFill>
              </a:rPr>
              <a:t>95%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9235440" y="54223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Autoconsumo supuesto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</a:rPr>
              <a:t>Holcim Ecuador | Proyecto integrador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F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Ingeniería económica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</a:rPr>
              <a:t>El escenario base crea valor, pero el pesimista destruye valor.</a:t>
            </a:r>
            <a:endParaRPr lang="en-US" sz="1100" dirty="0"/>
          </a:p>
        </p:txBody>
      </p:sp>
      <p:pic>
        <p:nvPicPr>
          <p:cNvPr id="4" name="Image 0" descr="/mnt/data/proyecto-finanzas-holcim/reports/figures/van_e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293223"/>
            <a:ext cx="5394960" cy="30828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651"/>
                </a:solidFill>
              </a:rPr>
              <a:t>USD 1.02 M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85800" y="19476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VAN base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88036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651"/>
                </a:solidFill>
              </a:rPr>
              <a:t>13.29%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2880360" y="19476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TIR base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8580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651"/>
                </a:solidFill>
              </a:rPr>
              <a:t>1.168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85800" y="3319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Beneficio/costo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880360" y="2788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A651"/>
                </a:solidFill>
              </a:rPr>
              <a:t>11.68 años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2880360" y="33192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Payback descontado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5800" y="4480560"/>
            <a:ext cx="2834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F6D"/>
                </a:solidFill>
              </a:rPr>
              <a:t>Decisión técnica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85800" y="4956048"/>
            <a:ext cx="48920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Aceptar condicionadamente: el VAN y la TIR son suficientes en base, pero deben validarse los supuestos de CAPEX, energía, tarifa y continuidad operativa.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</a:rPr>
              <a:t>Holcim Ecuador | Proyecto integrador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F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Riesgos y sensibilidad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</a:rPr>
              <a:t>El supuesto más crítico es el ahorro por continuidad operativa.</a:t>
            </a:r>
            <a:endParaRPr lang="en-US" sz="1100" dirty="0"/>
          </a:p>
        </p:txBody>
      </p:sp>
      <p:pic>
        <p:nvPicPr>
          <p:cNvPr id="4" name="Image 0" descr="/mnt/data/proyecto-finanzas-holcim/reports/figures/matriz_riesg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576072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F6D"/>
                </a:solidFill>
              </a:rPr>
              <a:t>Riesgos prioritarios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720840" y="1874520"/>
            <a:ext cx="42976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1. Ahorro por apagones sobreestimado.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2. CAPEX superior a cotización preliminar.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3. Menor generación solar real.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4. Tasa de deuda o reposición de batería más costosa.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20840" y="3886200"/>
            <a:ext cx="2926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F6D"/>
                </a:solidFill>
              </a:rPr>
              <a:t>Mitigación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720840" y="4389120"/>
            <a:ext cx="4160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</a:rPr>
              <a:t>Solicitar tres cotizaciones EPC, estudio solar P50/P90, medición de consumo por curva horaria y auditoría de pérdidas por interrupciones.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</a:rPr>
              <a:t>Holcim Ecuador | Proyecto integrador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F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Arquitectura multiagente y dashboard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</a:rPr>
              <a:t>El proyecto deja evidencia verificable de uso de IA, datos, cálculos y validación.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123F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121408"/>
            <a:ext cx="1188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F6D"/>
                </a:solidFill>
              </a:rPr>
              <a:t>Coordinador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2404872"/>
            <a:ext cx="1188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</a:rPr>
              <a:t>integra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 rot="5400000">
            <a:off x="2148840" y="2240280"/>
            <a:ext cx="228600" cy="228600"/>
          </a:xfrm>
          <a:prstGeom prst="triangle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192024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DDEBF7"/>
          </a:solidFill>
          <a:ln w="12700">
            <a:solidFill>
              <a:srgbClr val="123F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24328" y="2121408"/>
            <a:ext cx="1188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F6D"/>
                </a:solidFill>
              </a:rPr>
              <a:t>Datos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24328" y="2404872"/>
            <a:ext cx="1188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</a:rPr>
              <a:t>limpia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 rot="5400000">
            <a:off x="4023360" y="2240280"/>
            <a:ext cx="228600" cy="228600"/>
          </a:xfrm>
          <a:prstGeom prst="triangle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92024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123F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8848" y="2121408"/>
            <a:ext cx="1188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F6D"/>
                </a:solidFill>
              </a:rPr>
              <a:t>Financiero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98848" y="2404872"/>
            <a:ext cx="1188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</a:rPr>
              <a:t>ratios/WACC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 rot="5400000">
            <a:off x="5897880" y="2240280"/>
            <a:ext cx="228600" cy="228600"/>
          </a:xfrm>
          <a:prstGeom prst="triangle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92024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DDEBF7"/>
          </a:solidFill>
          <a:ln w="12700">
            <a:solidFill>
              <a:srgbClr val="123F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2121408"/>
            <a:ext cx="1188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F6D"/>
                </a:solidFill>
              </a:rPr>
              <a:t>Ing. económica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73368" y="2404872"/>
            <a:ext cx="1188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</a:rPr>
              <a:t>VAN/TIR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 rot="5400000">
            <a:off x="7772400" y="2240280"/>
            <a:ext cx="228600" cy="228600"/>
          </a:xfrm>
          <a:prstGeom prst="triangle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92024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123F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888" y="2121408"/>
            <a:ext cx="1188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F6D"/>
                </a:solidFill>
              </a:rPr>
              <a:t>Auditor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47888" y="2404872"/>
            <a:ext cx="1188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</a:rPr>
              <a:t>verifica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 rot="5400000">
            <a:off x="9646920" y="2240280"/>
            <a:ext cx="228600" cy="228600"/>
          </a:xfrm>
          <a:prstGeom prst="triangle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12680" y="192024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DDEBF7"/>
          </a:solidFill>
          <a:ln w="12700">
            <a:solidFill>
              <a:srgbClr val="123F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22408" y="2121408"/>
            <a:ext cx="1188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F6D"/>
                </a:solidFill>
              </a:rPr>
              <a:t>Visualización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122408" y="2404872"/>
            <a:ext cx="1188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</a:rPr>
              <a:t>dashboard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7240" y="3840480"/>
            <a:ext cx="4114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F6D"/>
                </a:solidFill>
              </a:rPr>
              <a:t>Archivos incluidos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7240" y="4343400"/>
            <a:ext cx="4572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AGENTS.md, carpeta agents/, prompts/, evidence/, data/, src/analysis y dashboard Next.js listo para Vercel.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3840480"/>
            <a:ext cx="2926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F6D"/>
                </a:solidFill>
              </a:rPr>
              <a:t>Dashboard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46520" y="4343400"/>
            <a:ext cx="42976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Presenta desafío, KPIs financieros, flujo proyectado, escenarios, sensibilidad, WACC, riesgos, fuentes y recomendación final.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</a:rPr>
              <a:t>Holcim Ecuador | Proyecto integrador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F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Recomendación final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</a:rPr>
              <a:t>Aceptar condicionadamente, no ejecutar todavía sin validación externa.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1280160"/>
          </a:xfrm>
          <a:prstGeom prst="rect">
            <a:avLst/>
          </a:prstGeom>
          <a:solidFill>
            <a:srgbClr val="123F6D"/>
          </a:solidFill>
          <a:ln w="12700">
            <a:solidFill>
              <a:srgbClr val="123F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55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ACEPTAR CONDICIONADAMENTE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309360" y="17647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El proyecto crea valor en base, pero su margen de seguridad depende de supuestos técnicos.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F6D"/>
                </a:solidFill>
              </a:rPr>
              <a:t>Aprobar solo después de: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50292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1. Cotización EPC formal.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2. Estudio de generación y autoconsumo.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3. Confirmación de tarifa y costo de interrupciones.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4. Crédito bancario de largo plazo aprobado.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5. Comité de control con hitos de seguimiento.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F6D"/>
                </a:solidFill>
              </a:rPr>
              <a:t>Criterio de reformulación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3703320"/>
            <a:ext cx="42062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Si el ahorro esperado baja hacia el escenario pesimista o el CAPEX sube sin compensación, se debe reformular el tamaño del sistema o aplazar la inversión.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</a:rPr>
              <a:t>Holcim Ecuador | Proyecto integrador |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Holcim Ecuador - inversión solar y almacenamiento</dc:title>
  <dc:subject>Análisis económico, financiero e ingeniería económica</dc:subject>
  <dc:creator>Proyecto financiero Holcim Ecuador</dc:creator>
  <cp:lastModifiedBy>Proyecto financiero Holcim Ecuador</cp:lastModifiedBy>
  <cp:revision>1</cp:revision>
  <dcterms:created xsi:type="dcterms:W3CDTF">2026-07-31T16:39:39Z</dcterms:created>
  <dcterms:modified xsi:type="dcterms:W3CDTF">2026-07-31T16:39:39Z</dcterms:modified>
</cp:coreProperties>
</file>